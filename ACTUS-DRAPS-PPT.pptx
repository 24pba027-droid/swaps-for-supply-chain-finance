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90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712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723086" cy="5143500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9107" y="1097280"/>
            <a:ext cx="567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ACTUS-DRAPS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46965" y="1993355"/>
            <a:ext cx="2743200" cy="45720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9107" y="2474687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Risk-Adaptive Portfolio Swaps for Supply Chain Finance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0445" y="3123838"/>
            <a:ext cx="723972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B89880"/>
                </a:solidFill>
              </a:rPr>
              <a:t>Trade Finance  ·  Standardized Tariff Risk Hedging through ACTUS Contract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4960" y="3921035"/>
            <a:ext cx="4663440" cy="502920"/>
          </a:xfrm>
          <a:prstGeom prst="rect">
            <a:avLst/>
          </a:prstGeom>
          <a:solidFill>
            <a:srgbClr val="2A0D16"/>
          </a:solidFill>
          <a:ln w="12700">
            <a:solidFill>
              <a:srgbClr val="2A0D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-144417" y="3921035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ACTUS Competition 2025  ·  Trade Finance Risk Innovation</a:t>
            </a:r>
            <a:endParaRPr lang="en-US" sz="9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5AC6C03-464E-0C7B-F7F2-7F1A0FD734F9}"/>
              </a:ext>
            </a:extLst>
          </p:cNvPr>
          <p:cNvSpPr/>
          <p:nvPr/>
        </p:nvSpPr>
        <p:spPr>
          <a:xfrm>
            <a:off x="257629" y="411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ACTUS FINANCIAL RESEARCH FOUNDATION</a:t>
            </a:r>
            <a:endParaRPr lang="en-US" sz="9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E781BCBB-6805-1F0B-B2D8-59040FC84DA4}"/>
              </a:ext>
            </a:extLst>
          </p:cNvPr>
          <p:cNvSpPr/>
          <p:nvPr/>
        </p:nvSpPr>
        <p:spPr>
          <a:xfrm>
            <a:off x="314960" y="3139078"/>
            <a:ext cx="7772400" cy="0"/>
          </a:xfrm>
          <a:prstGeom prst="line">
            <a:avLst/>
          </a:prstGeom>
          <a:noFill/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2860"/>
            <a:ext cx="9144000" cy="47548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-2286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-10972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THE WORLD HAS CHANGED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-2286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Slide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65447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E"/>
                </a:solidFill>
              </a:rPr>
              <a:t>Tariff Volatility is the New Normal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0528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Mid-Contract Shifts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277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Trade tariffs now shift mid-contract in ways that directly affect the cost of lending — no longer stable policy fixtures.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5499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20528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15–25pt Spikes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4277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When tariffs spike 15–25 percentage points, SME exporters face margin compression, covenant stress, and working capital gaps.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5499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20528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5C1A2E"/>
                </a:solidFill>
              </a:rPr>
              <a:t>Loan Terms Mismatch with Operations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42773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3D2B2B"/>
                </a:solidFill>
              </a:rPr>
              <a:t>The financing rate locked at loan origination no longer reflects the risk environment at repayment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444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1A2E"/>
                </a:solidFill>
              </a:rPr>
              <a:t>IMPACT CHAIN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0645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Tariff Announcement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4600" y="40645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Rate Stress Begins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0645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Covenant Pressure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40645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SME Financing Gap</a:t>
            </a:r>
            <a:endParaRPr lang="en-US" sz="9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AA6124-FC84-A58F-8161-05A76D621420}"/>
              </a:ext>
            </a:extLst>
          </p:cNvPr>
          <p:cNvSpPr txBox="1"/>
          <p:nvPr/>
        </p:nvSpPr>
        <p:spPr>
          <a:xfrm>
            <a:off x="365760" y="1527999"/>
            <a:ext cx="8698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Jan 2025 - less than 25%	                     Apr 2025 – 25%		      Aug 2025 – 50%		Jan 2026 – 18%		</a:t>
            </a:r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BC22D82F-FFF1-D29A-FF70-ADDAF4F3B15A}"/>
              </a:ext>
            </a:extLst>
          </p:cNvPr>
          <p:cNvSpPr/>
          <p:nvPr/>
        </p:nvSpPr>
        <p:spPr>
          <a:xfrm>
            <a:off x="110309" y="-331921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E"/>
                </a:solidFill>
              </a:rPr>
              <a:t>Tariff Volatility is the New Normal</a:t>
            </a:r>
            <a:endParaRPr lang="en-US" sz="2400" dirty="0"/>
          </a:p>
        </p:txBody>
      </p:sp>
      <p:sp>
        <p:nvSpPr>
          <p:cNvPr id="74" name="Shape 1">
            <a:extLst>
              <a:ext uri="{FF2B5EF4-FFF2-40B4-BE49-F238E27FC236}">
                <a16:creationId xmlns:a16="http://schemas.microsoft.com/office/drawing/2014/main" id="{0C8F113A-A677-AAE6-366F-88F9012994E4}"/>
              </a:ext>
            </a:extLst>
          </p:cNvPr>
          <p:cNvSpPr/>
          <p:nvPr/>
        </p:nvSpPr>
        <p:spPr>
          <a:xfrm>
            <a:off x="-2903" y="376283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5">
            <a:extLst>
              <a:ext uri="{FF2B5EF4-FFF2-40B4-BE49-F238E27FC236}">
                <a16:creationId xmlns:a16="http://schemas.microsoft.com/office/drawing/2014/main" id="{ACAE0A83-3416-BF11-A6AD-D072F11DE355}"/>
              </a:ext>
            </a:extLst>
          </p:cNvPr>
          <p:cNvSpPr/>
          <p:nvPr/>
        </p:nvSpPr>
        <p:spPr>
          <a:xfrm>
            <a:off x="362857" y="1933719"/>
            <a:ext cx="2606040" cy="19904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6">
            <a:extLst>
              <a:ext uri="{FF2B5EF4-FFF2-40B4-BE49-F238E27FC236}">
                <a16:creationId xmlns:a16="http://schemas.microsoft.com/office/drawing/2014/main" id="{176982F5-1500-C443-827D-9A838F112506}"/>
              </a:ext>
            </a:extLst>
          </p:cNvPr>
          <p:cNvSpPr/>
          <p:nvPr/>
        </p:nvSpPr>
        <p:spPr>
          <a:xfrm>
            <a:off x="362857" y="1839323"/>
            <a:ext cx="2606040" cy="54864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AFFDEAFB-3404-6D0C-7E1A-171FC50B3BEB}"/>
              </a:ext>
            </a:extLst>
          </p:cNvPr>
          <p:cNvSpPr/>
          <p:nvPr/>
        </p:nvSpPr>
        <p:spPr>
          <a:xfrm>
            <a:off x="362857" y="1949051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B8F537E4-AD7E-01BA-F364-AFB597BA06C9}"/>
              </a:ext>
            </a:extLst>
          </p:cNvPr>
          <p:cNvSpPr/>
          <p:nvPr/>
        </p:nvSpPr>
        <p:spPr>
          <a:xfrm>
            <a:off x="500017" y="2451971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Mid-Contract Shifts</a:t>
            </a:r>
            <a:endParaRPr lang="en-US" sz="13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B1CF80C5-222F-372F-3957-6A1D2A11E8B9}"/>
              </a:ext>
            </a:extLst>
          </p:cNvPr>
          <p:cNvSpPr/>
          <p:nvPr/>
        </p:nvSpPr>
        <p:spPr>
          <a:xfrm>
            <a:off x="500017" y="2826875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Trade tariffs now shift mid-contract in ways that directly affect the cost of lending — no longer stable policy fixtures.</a:t>
            </a:r>
            <a:endParaRPr lang="en-US" sz="1000" dirty="0"/>
          </a:p>
        </p:txBody>
      </p:sp>
      <p:sp>
        <p:nvSpPr>
          <p:cNvPr id="83" name="Shape 10">
            <a:extLst>
              <a:ext uri="{FF2B5EF4-FFF2-40B4-BE49-F238E27FC236}">
                <a16:creationId xmlns:a16="http://schemas.microsoft.com/office/drawing/2014/main" id="{5645BE05-D026-E09D-A503-482661375209}"/>
              </a:ext>
            </a:extLst>
          </p:cNvPr>
          <p:cNvSpPr/>
          <p:nvPr/>
        </p:nvSpPr>
        <p:spPr>
          <a:xfrm>
            <a:off x="3197497" y="1839323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11">
            <a:extLst>
              <a:ext uri="{FF2B5EF4-FFF2-40B4-BE49-F238E27FC236}">
                <a16:creationId xmlns:a16="http://schemas.microsoft.com/office/drawing/2014/main" id="{155FA9B7-DB8B-080F-32DB-A5990456168B}"/>
              </a:ext>
            </a:extLst>
          </p:cNvPr>
          <p:cNvSpPr/>
          <p:nvPr/>
        </p:nvSpPr>
        <p:spPr>
          <a:xfrm>
            <a:off x="3197497" y="1839323"/>
            <a:ext cx="2606040" cy="54864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4E74F83A-2784-D339-D247-1C6630F714A8}"/>
              </a:ext>
            </a:extLst>
          </p:cNvPr>
          <p:cNvSpPr/>
          <p:nvPr/>
        </p:nvSpPr>
        <p:spPr>
          <a:xfrm>
            <a:off x="3197497" y="1949051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51CBA21A-8DC1-45E4-4DED-4DFB9CD4CD5A}"/>
              </a:ext>
            </a:extLst>
          </p:cNvPr>
          <p:cNvSpPr/>
          <p:nvPr/>
        </p:nvSpPr>
        <p:spPr>
          <a:xfrm>
            <a:off x="3334657" y="2451971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15–25pt Spikes</a:t>
            </a:r>
            <a:endParaRPr lang="en-US" sz="1300" dirty="0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D92098DE-3269-7239-3D39-35025E884906}"/>
              </a:ext>
            </a:extLst>
          </p:cNvPr>
          <p:cNvSpPr/>
          <p:nvPr/>
        </p:nvSpPr>
        <p:spPr>
          <a:xfrm>
            <a:off x="3334657" y="2826875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When tariffs spike 15–25 percentage points, SME exporters face margin compression, covenant stress, and working capital gaps.</a:t>
            </a:r>
            <a:endParaRPr lang="en-US" sz="1000" dirty="0"/>
          </a:p>
        </p:txBody>
      </p:sp>
      <p:sp>
        <p:nvSpPr>
          <p:cNvPr id="88" name="Shape 15">
            <a:extLst>
              <a:ext uri="{FF2B5EF4-FFF2-40B4-BE49-F238E27FC236}">
                <a16:creationId xmlns:a16="http://schemas.microsoft.com/office/drawing/2014/main" id="{0A4E91D0-30F8-4F90-01D9-E685BAB4C692}"/>
              </a:ext>
            </a:extLst>
          </p:cNvPr>
          <p:cNvSpPr/>
          <p:nvPr/>
        </p:nvSpPr>
        <p:spPr>
          <a:xfrm>
            <a:off x="6032137" y="1839323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16">
            <a:extLst>
              <a:ext uri="{FF2B5EF4-FFF2-40B4-BE49-F238E27FC236}">
                <a16:creationId xmlns:a16="http://schemas.microsoft.com/office/drawing/2014/main" id="{CCBA43DE-532A-AD36-7A76-895F97041791}"/>
              </a:ext>
            </a:extLst>
          </p:cNvPr>
          <p:cNvSpPr/>
          <p:nvPr/>
        </p:nvSpPr>
        <p:spPr>
          <a:xfrm>
            <a:off x="6032137" y="1839323"/>
            <a:ext cx="2606040" cy="54864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17">
            <a:extLst>
              <a:ext uri="{FF2B5EF4-FFF2-40B4-BE49-F238E27FC236}">
                <a16:creationId xmlns:a16="http://schemas.microsoft.com/office/drawing/2014/main" id="{81884098-C20B-00D5-21FE-353977F977BB}"/>
              </a:ext>
            </a:extLst>
          </p:cNvPr>
          <p:cNvSpPr/>
          <p:nvPr/>
        </p:nvSpPr>
        <p:spPr>
          <a:xfrm>
            <a:off x="6032137" y="1949051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91" name="Text 18">
            <a:extLst>
              <a:ext uri="{FF2B5EF4-FFF2-40B4-BE49-F238E27FC236}">
                <a16:creationId xmlns:a16="http://schemas.microsoft.com/office/drawing/2014/main" id="{9CD6FBFB-B449-9D52-F157-D5080C888A58}"/>
              </a:ext>
            </a:extLst>
          </p:cNvPr>
          <p:cNvSpPr/>
          <p:nvPr/>
        </p:nvSpPr>
        <p:spPr>
          <a:xfrm>
            <a:off x="6169297" y="2451971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5C1A2E"/>
                </a:solidFill>
              </a:rPr>
              <a:t>Loan Terms Mismatch with Operations</a:t>
            </a:r>
            <a:endParaRPr lang="en-US" sz="1300" dirty="0"/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AF28B4CE-4219-B266-C9C2-1F19AB70E196}"/>
              </a:ext>
            </a:extLst>
          </p:cNvPr>
          <p:cNvSpPr/>
          <p:nvPr/>
        </p:nvSpPr>
        <p:spPr>
          <a:xfrm>
            <a:off x="6169297" y="2826875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3D2B2B"/>
                </a:solidFill>
              </a:rPr>
              <a:t>The financing rate locked at loan origination no longer reflects the risk environment at repayment</a:t>
            </a:r>
            <a:endParaRPr lang="en-US" sz="1000" dirty="0"/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DBEAE2BD-FB7B-D362-D382-9C278FA1EEB5}"/>
              </a:ext>
            </a:extLst>
          </p:cNvPr>
          <p:cNvSpPr/>
          <p:nvPr/>
        </p:nvSpPr>
        <p:spPr>
          <a:xfrm>
            <a:off x="454297" y="4143611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1A2E"/>
                </a:solidFill>
              </a:rPr>
              <a:t>IMPACT CHAIN</a:t>
            </a:r>
            <a:endParaRPr lang="en-US" sz="900" dirty="0"/>
          </a:p>
        </p:txBody>
      </p:sp>
      <p:sp>
        <p:nvSpPr>
          <p:cNvPr id="94" name="Shape 21">
            <a:extLst>
              <a:ext uri="{FF2B5EF4-FFF2-40B4-BE49-F238E27FC236}">
                <a16:creationId xmlns:a16="http://schemas.microsoft.com/office/drawing/2014/main" id="{4B15CB81-3164-7D5D-0357-A716DDCB8C88}"/>
              </a:ext>
            </a:extLst>
          </p:cNvPr>
          <p:cNvSpPr/>
          <p:nvPr/>
        </p:nvSpPr>
        <p:spPr>
          <a:xfrm>
            <a:off x="362857" y="4463651"/>
            <a:ext cx="1828800" cy="41148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22">
            <a:extLst>
              <a:ext uri="{FF2B5EF4-FFF2-40B4-BE49-F238E27FC236}">
                <a16:creationId xmlns:a16="http://schemas.microsoft.com/office/drawing/2014/main" id="{2E633460-6805-6839-4082-82CCE3951977}"/>
              </a:ext>
            </a:extLst>
          </p:cNvPr>
          <p:cNvSpPr/>
          <p:nvPr/>
        </p:nvSpPr>
        <p:spPr>
          <a:xfrm>
            <a:off x="362857" y="4463651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Tariff Announcement</a:t>
            </a:r>
            <a:endParaRPr lang="en-US" sz="900" dirty="0"/>
          </a:p>
        </p:txBody>
      </p:sp>
      <p:sp>
        <p:nvSpPr>
          <p:cNvPr id="96" name="Shape 23">
            <a:extLst>
              <a:ext uri="{FF2B5EF4-FFF2-40B4-BE49-F238E27FC236}">
                <a16:creationId xmlns:a16="http://schemas.microsoft.com/office/drawing/2014/main" id="{6EAD80EE-2E7C-4D94-506D-309D40D9C39D}"/>
              </a:ext>
            </a:extLst>
          </p:cNvPr>
          <p:cNvSpPr/>
          <p:nvPr/>
        </p:nvSpPr>
        <p:spPr>
          <a:xfrm>
            <a:off x="2191657" y="4641959"/>
            <a:ext cx="320040" cy="54864"/>
          </a:xfrm>
          <a:prstGeom prst="rect">
            <a:avLst/>
          </a:prstGeom>
          <a:solidFill>
            <a:srgbClr val="8C7B70"/>
          </a:solidFill>
          <a:ln w="12700">
            <a:solidFill>
              <a:srgbClr val="8C7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24">
            <a:extLst>
              <a:ext uri="{FF2B5EF4-FFF2-40B4-BE49-F238E27FC236}">
                <a16:creationId xmlns:a16="http://schemas.microsoft.com/office/drawing/2014/main" id="{6FA9AA3F-F131-9900-26B3-28E04B479B8C}"/>
              </a:ext>
            </a:extLst>
          </p:cNvPr>
          <p:cNvSpPr/>
          <p:nvPr/>
        </p:nvSpPr>
        <p:spPr>
          <a:xfrm>
            <a:off x="2511697" y="4463651"/>
            <a:ext cx="1828800" cy="411480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25">
            <a:extLst>
              <a:ext uri="{FF2B5EF4-FFF2-40B4-BE49-F238E27FC236}">
                <a16:creationId xmlns:a16="http://schemas.microsoft.com/office/drawing/2014/main" id="{55028237-120A-927D-679C-C3391C04AF3E}"/>
              </a:ext>
            </a:extLst>
          </p:cNvPr>
          <p:cNvSpPr/>
          <p:nvPr/>
        </p:nvSpPr>
        <p:spPr>
          <a:xfrm>
            <a:off x="2511697" y="4463651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Rate Stress Begins</a:t>
            </a:r>
            <a:endParaRPr lang="en-US" sz="900" dirty="0"/>
          </a:p>
        </p:txBody>
      </p:sp>
      <p:sp>
        <p:nvSpPr>
          <p:cNvPr id="99" name="Shape 26">
            <a:extLst>
              <a:ext uri="{FF2B5EF4-FFF2-40B4-BE49-F238E27FC236}">
                <a16:creationId xmlns:a16="http://schemas.microsoft.com/office/drawing/2014/main" id="{4A6ED4C0-B083-1C5F-1663-496B09144A4C}"/>
              </a:ext>
            </a:extLst>
          </p:cNvPr>
          <p:cNvSpPr/>
          <p:nvPr/>
        </p:nvSpPr>
        <p:spPr>
          <a:xfrm>
            <a:off x="4340497" y="4641959"/>
            <a:ext cx="320040" cy="54864"/>
          </a:xfrm>
          <a:prstGeom prst="rect">
            <a:avLst/>
          </a:prstGeom>
          <a:solidFill>
            <a:srgbClr val="8C7B70"/>
          </a:solidFill>
          <a:ln w="12700">
            <a:solidFill>
              <a:srgbClr val="8C7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27">
            <a:extLst>
              <a:ext uri="{FF2B5EF4-FFF2-40B4-BE49-F238E27FC236}">
                <a16:creationId xmlns:a16="http://schemas.microsoft.com/office/drawing/2014/main" id="{053A9CE8-E8F3-E465-CBF4-D42A6BD3F22A}"/>
              </a:ext>
            </a:extLst>
          </p:cNvPr>
          <p:cNvSpPr/>
          <p:nvPr/>
        </p:nvSpPr>
        <p:spPr>
          <a:xfrm>
            <a:off x="4660537" y="4463651"/>
            <a:ext cx="1828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6AF17580-36F1-D4F3-5C44-AE15888169A3}"/>
              </a:ext>
            </a:extLst>
          </p:cNvPr>
          <p:cNvSpPr/>
          <p:nvPr/>
        </p:nvSpPr>
        <p:spPr>
          <a:xfrm>
            <a:off x="4660537" y="4463651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Covenant Pressure</a:t>
            </a:r>
            <a:endParaRPr lang="en-US" sz="900" dirty="0"/>
          </a:p>
        </p:txBody>
      </p:sp>
      <p:sp>
        <p:nvSpPr>
          <p:cNvPr id="102" name="Shape 29">
            <a:extLst>
              <a:ext uri="{FF2B5EF4-FFF2-40B4-BE49-F238E27FC236}">
                <a16:creationId xmlns:a16="http://schemas.microsoft.com/office/drawing/2014/main" id="{01D121DD-90D9-806D-7772-160AB7D94C1C}"/>
              </a:ext>
            </a:extLst>
          </p:cNvPr>
          <p:cNvSpPr/>
          <p:nvPr/>
        </p:nvSpPr>
        <p:spPr>
          <a:xfrm>
            <a:off x="6489337" y="4641959"/>
            <a:ext cx="320040" cy="54864"/>
          </a:xfrm>
          <a:prstGeom prst="rect">
            <a:avLst/>
          </a:prstGeom>
          <a:solidFill>
            <a:srgbClr val="8C7B70"/>
          </a:solidFill>
          <a:ln w="12700">
            <a:solidFill>
              <a:srgbClr val="8C7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30">
            <a:extLst>
              <a:ext uri="{FF2B5EF4-FFF2-40B4-BE49-F238E27FC236}">
                <a16:creationId xmlns:a16="http://schemas.microsoft.com/office/drawing/2014/main" id="{25601745-A4A7-23F9-9292-955278106B7A}"/>
              </a:ext>
            </a:extLst>
          </p:cNvPr>
          <p:cNvSpPr/>
          <p:nvPr/>
        </p:nvSpPr>
        <p:spPr>
          <a:xfrm>
            <a:off x="6809377" y="4463651"/>
            <a:ext cx="1828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31">
            <a:extLst>
              <a:ext uri="{FF2B5EF4-FFF2-40B4-BE49-F238E27FC236}">
                <a16:creationId xmlns:a16="http://schemas.microsoft.com/office/drawing/2014/main" id="{44638CDD-95AF-E6CA-7BB2-8540CB143143}"/>
              </a:ext>
            </a:extLst>
          </p:cNvPr>
          <p:cNvSpPr/>
          <p:nvPr/>
        </p:nvSpPr>
        <p:spPr>
          <a:xfrm>
            <a:off x="6809377" y="4463651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SME Financing Gap</a:t>
            </a:r>
            <a:endParaRPr lang="en-US" sz="9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72C3A275-5D41-3D03-40C2-9B92A4262D99}"/>
              </a:ext>
            </a:extLst>
          </p:cNvPr>
          <p:cNvSpPr/>
          <p:nvPr/>
        </p:nvSpPr>
        <p:spPr>
          <a:xfrm>
            <a:off x="107406" y="-2920075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E"/>
                </a:solidFill>
              </a:rPr>
              <a:t>Tariff Volatility is the New Normal</a:t>
            </a:r>
            <a:endParaRPr lang="en-US" sz="24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968389F-8756-F136-DC6E-5C476E589A81}"/>
              </a:ext>
            </a:extLst>
          </p:cNvPr>
          <p:cNvSpPr/>
          <p:nvPr/>
        </p:nvSpPr>
        <p:spPr>
          <a:xfrm>
            <a:off x="502920" y="1386662"/>
            <a:ext cx="8323943" cy="4571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3602692-E5B1-F85F-42A3-14F10720A191}"/>
              </a:ext>
            </a:extLst>
          </p:cNvPr>
          <p:cNvSpPr/>
          <p:nvPr/>
        </p:nvSpPr>
        <p:spPr>
          <a:xfrm>
            <a:off x="928188" y="1259842"/>
            <a:ext cx="261257" cy="25363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761CDC00-104D-18D6-510E-76A6DE9A457E}"/>
              </a:ext>
            </a:extLst>
          </p:cNvPr>
          <p:cNvSpPr/>
          <p:nvPr/>
        </p:nvSpPr>
        <p:spPr>
          <a:xfrm>
            <a:off x="3334657" y="1259843"/>
            <a:ext cx="293189" cy="25363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FFD017D7-0F03-D71D-5F96-8D74311DA5C0}"/>
              </a:ext>
            </a:extLst>
          </p:cNvPr>
          <p:cNvSpPr/>
          <p:nvPr/>
        </p:nvSpPr>
        <p:spPr>
          <a:xfrm>
            <a:off x="5540828" y="1259843"/>
            <a:ext cx="293189" cy="2536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50BE078-929F-3F1D-F676-F6B71F864956}"/>
              </a:ext>
            </a:extLst>
          </p:cNvPr>
          <p:cNvSpPr/>
          <p:nvPr/>
        </p:nvSpPr>
        <p:spPr>
          <a:xfrm>
            <a:off x="8384902" y="1299576"/>
            <a:ext cx="293189" cy="25363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WHY THIS IS HARD TO FIX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Slide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E"/>
                </a:solidFill>
              </a:rPr>
              <a:t>The Gap in Trade Finance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3931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54864" cy="1536192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819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📋  No Contract Standard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Tariff risk has no standardised contract language — every institution builds bespoke, expensive arrangements.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444752"/>
            <a:ext cx="3931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444752"/>
            <a:ext cx="54864" cy="1536192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5819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🏦  SME Exclusion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993392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Bespoke instruments are only accessible to large institutions, leaving the $2–3T SME segment structurally unprotected.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3931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54864" cy="1536192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🔄  Derivative Gap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Traditional FX and rate swaps exist because their risk factors are machine-readable. Tariffs aren't — yet.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3931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54864" cy="1536192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291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📊  Opacity Risk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703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Without standardisation, risk accumulates invisibly across portfolios — regulators and lenders flying blind.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THE STANDARDS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Slide 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1A2E"/>
                </a:solidFill>
              </a:rPr>
              <a:t>Why This Is a Financial Standards Problem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36576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3A3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26464"/>
            <a:ext cx="3657600" cy="41148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STANDARDISED RISKS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019"/>
                </a:solidFill>
              </a:rPr>
              <a:t>→  FX Rates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019"/>
                </a:solidFill>
              </a:rPr>
              <a:t>→  Interest Rates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019"/>
                </a:solidFill>
              </a:rPr>
              <a:t>→  Commodity Prices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291840" cy="18288"/>
          </a:xfrm>
          <a:prstGeom prst="rect">
            <a:avLst/>
          </a:prstGeom>
          <a:solidFill>
            <a:srgbClr val="E0D5CC"/>
          </a:solidFill>
          <a:ln w="12700">
            <a:solidFill>
              <a:srgbClr val="E0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8B3A3A"/>
                </a:solidFill>
              </a:rPr>
              <a:t>Liquid · Hedgeable · Machine-Readable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47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70"/>
                </a:solidFill>
              </a:rPr>
              <a:t>$quadrillions of instruments traded daily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2606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7830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041648" y="3127248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7830"/>
                </a:solidFill>
              </a:rPr>
              <a:t>OPPORTUNITY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120640" y="1426464"/>
            <a:ext cx="36576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0" y="1426464"/>
            <a:ext cx="36576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0" y="14264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⚠️  POLICY RISKS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019"/>
                </a:solidFill>
              </a:rPr>
              <a:t>→  Tariff Rates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019"/>
                </a:solidFill>
              </a:rPr>
              <a:t>→  Sanctions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019"/>
                </a:solidFill>
              </a:rPr>
              <a:t>→  Trade Restrictions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3154680"/>
            <a:ext cx="3291840" cy="18288"/>
          </a:xfrm>
          <a:prstGeom prst="rect">
            <a:avLst/>
          </a:prstGeom>
          <a:solidFill>
            <a:srgbClr val="E0D5CC"/>
          </a:solidFill>
          <a:ln w="12700">
            <a:solidFill>
              <a:srgbClr val="E0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0392B"/>
                </a:solidFill>
              </a:rPr>
              <a:t>Bespoke · Opaque · Inaccessible to SMEs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5478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70"/>
                </a:solidFill>
              </a:rPr>
              <a:t>$2–3T SME sector structurally underserved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C1A2E"/>
                </a:solidFill>
              </a:rPr>
              <a:t>The contract language for policy risk simply does not exist yet — ACTUS-DRAPS is building 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THE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Slide 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5C1A2E"/>
                </a:solidFill>
              </a:rPr>
              <a:t>ACTUS: A Deterministic Standard for Financial Contracts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" cy="292608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481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1A2E"/>
                </a:solidFill>
              </a:rPr>
              <a:t>Deterministic State Machines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181051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2B"/>
                </a:solidFill>
              </a:rPr>
              <a:t>ACTUS defines financial contracts so that given the same inputs, every party computes identical cash flows no ambiguity.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292608" cy="292608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350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2768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1A2E"/>
                </a:solidFill>
              </a:rPr>
              <a:t>Regulatory Trust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6060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2B"/>
                </a:solidFill>
              </a:rPr>
              <a:t>Already trusted by many financial institutions  for risk modelling — a proven, trusted standard.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45536"/>
            <a:ext cx="292608" cy="292608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145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0723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1A2E"/>
                </a:solidFill>
              </a:rPr>
              <a:t>Market Object Bridge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4015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2B"/>
                </a:solidFill>
              </a:rPr>
              <a:t>Many observable risk factor — interest rates, FX, commodities — can be parameterised as an ACTUS Market Object.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41064"/>
            <a:ext cx="292608" cy="292608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9410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867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1A2E"/>
                </a:solidFill>
              </a:rPr>
              <a:t>Tariffs as Rates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419709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2B"/>
                </a:solidFill>
              </a:rPr>
              <a:t>Tariff rates behave like interest rates: observable, policy-set, and directly affecting cash flow economics. The bridge exists.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40780" y="1463040"/>
            <a:ext cx="2606040" cy="3291840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60604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16002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ACTUS IS THE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RIGHT FOUNDATION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2395728"/>
            <a:ext cx="1920240" cy="27432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2542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880"/>
                </a:solidFill>
              </a:rPr>
              <a:t>Trusted by Regulators: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2907792"/>
            <a:ext cx="2057400" cy="347472"/>
          </a:xfrm>
          <a:prstGeom prst="rect">
            <a:avLst/>
          </a:prstGeom>
          <a:solidFill>
            <a:srgbClr val="8B3A3A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92240" y="29077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FDIC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15100" y="3474720"/>
            <a:ext cx="2057400" cy="347472"/>
          </a:xfrm>
          <a:prstGeom prst="rect">
            <a:avLst/>
          </a:prstGeom>
          <a:solidFill>
            <a:srgbClr val="8B3A3A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07766" y="3493008"/>
            <a:ext cx="82634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ECB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44988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0C040"/>
                </a:solidFill>
              </a:rPr>
              <a:t>Extended for policy risk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Slide 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1A2E"/>
                </a:solidFill>
              </a:rPr>
              <a:t>Introducing ACTUS-DRAPS — Three-Layer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64008" cy="91440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536192"/>
            <a:ext cx="822960" cy="27432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361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LAYER 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08760" y="15179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Trade Finance Foundation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18653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7830"/>
                </a:solidFill>
              </a:rPr>
              <a:t>PAM Contracts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153619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Single transaction structures: LC financing, 90–180 day tenors — the underlying loan structures all scenarios are built 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64008" cy="914400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822960" cy="274320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LAYER 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508760" y="25877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Tariff Risk Protection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935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7830"/>
                </a:solidFill>
              </a:rPr>
              <a:t>SWAPS Contracts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0" y="26060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Fixed-notional: SME pays fixed premium, receives settlement if tariff exceeds threshold. Variable-notional: dynamically adjusts hedge size based on supply chain stress indicators.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84448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64008" cy="914400"/>
          </a:xfrm>
          <a:prstGeom prst="rect">
            <a:avLst/>
          </a:prstGeom>
          <a:solidFill>
            <a:srgbClr val="2A0D16"/>
          </a:solidFill>
          <a:ln w="12700">
            <a:solidFill>
              <a:srgbClr val="2A0D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675888"/>
            <a:ext cx="822960" cy="274320"/>
          </a:xfrm>
          <a:prstGeom prst="rect">
            <a:avLst/>
          </a:prstGeom>
          <a:solidFill>
            <a:srgbClr val="2A0D16"/>
          </a:solidFill>
          <a:ln w="12700">
            <a:solidFill>
              <a:srgbClr val="2A0D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6758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LAYER 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508760" y="3657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1A2E"/>
                </a:solidFill>
              </a:rPr>
              <a:t>Dynamic Rebalancing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7830"/>
                </a:solidFill>
              </a:rPr>
              <a:t>Portfolio Aggregation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0" y="367588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Notional adjusts in response to stress indices; settlements feed back to Layer 1 (covenant relief, collateral stability); enables portfolio-level aggregation at institutional level.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626864"/>
            <a:ext cx="8412480" cy="320040"/>
          </a:xfrm>
          <a:prstGeom prst="rect">
            <a:avLst/>
          </a:prstGeom>
          <a:solidFill>
            <a:srgbClr val="FFF8E7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6268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1A2E"/>
                </a:solidFill>
              </a:rPr>
              <a:t>📌  POC Scope: PAM-based loan and SWAPS scenarios modelled. Dynamic rebalancing layer is the broader framework proposed for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TECHNICAL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Slide 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1A2E"/>
                </a:solidFill>
              </a:rPr>
              <a:t>Building the Parameters: GTAP, Armington Elasticity &amp; Corridor Stress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46304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Tariff Input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613916"/>
            <a:ext cx="256032" cy="45720"/>
          </a:xfrm>
          <a:prstGeom prst="rect">
            <a:avLst/>
          </a:prstGeom>
          <a:solidFill>
            <a:srgbClr val="8C7B70"/>
          </a:solidFill>
          <a:ln w="12700">
            <a:solidFill>
              <a:srgbClr val="8C7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1417320"/>
            <a:ext cx="1463040" cy="438912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1417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GTAP Elasticity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6432" y="1613916"/>
            <a:ext cx="256032" cy="45720"/>
          </a:xfrm>
          <a:prstGeom prst="rect">
            <a:avLst/>
          </a:prstGeom>
          <a:solidFill>
            <a:srgbClr val="8C7B70"/>
          </a:solidFill>
          <a:ln w="12700">
            <a:solidFill>
              <a:srgbClr val="8C7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12464" y="1417320"/>
            <a:ext cx="1463040" cy="438912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12464" y="1417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Sovereign Stress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75504" y="1613916"/>
            <a:ext cx="256032" cy="45720"/>
          </a:xfrm>
          <a:prstGeom prst="rect">
            <a:avLst/>
          </a:prstGeom>
          <a:solidFill>
            <a:srgbClr val="8C7B70"/>
          </a:solidFill>
          <a:ln w="12700">
            <a:solidFill>
              <a:srgbClr val="8C7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31536" y="1417320"/>
            <a:ext cx="1463040" cy="438912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31536" y="1417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WC Stress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94576" y="1613916"/>
            <a:ext cx="256032" cy="45720"/>
          </a:xfrm>
          <a:prstGeom prst="rect">
            <a:avLst/>
          </a:prstGeom>
          <a:solidFill>
            <a:srgbClr val="8C7B70"/>
          </a:solidFill>
          <a:ln w="12700">
            <a:solidFill>
              <a:srgbClr val="8C7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50608" y="1417320"/>
            <a:ext cx="1463040" cy="438912"/>
          </a:xfrm>
          <a:prstGeom prst="rect">
            <a:avLst/>
          </a:prstGeom>
          <a:solidFill>
            <a:srgbClr val="2A0D16"/>
          </a:solidFill>
          <a:ln w="12700">
            <a:solidFill>
              <a:srgbClr val="2A0D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50608" y="1417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ACTUS Parameters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C1A2E"/>
                </a:solidFill>
              </a:rPr>
              <a:t>ARMINGTON ELASTICITY (σ) — FROM GTAP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450592"/>
            <a:ext cx="45720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450592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1A2E"/>
                </a:solidFill>
              </a:rPr>
              <a:t>Textiles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2450592"/>
            <a:ext cx="1188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7830"/>
                </a:solidFill>
              </a:rPr>
              <a:t>σ = 3.8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83280" y="2450592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7B70"/>
                </a:solidFill>
              </a:rPr>
              <a:t>Moderate substitutability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026664"/>
            <a:ext cx="45720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026664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1A2E"/>
                </a:solidFill>
              </a:rPr>
              <a:t>Pharmaceuticals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94560" y="3026664"/>
            <a:ext cx="1188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7830"/>
                </a:solidFill>
              </a:rPr>
              <a:t>σ = 2.4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83280" y="3026664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7B70"/>
                </a:solidFill>
              </a:rPr>
              <a:t>Lower substitutability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602736"/>
            <a:ext cx="45720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602736"/>
            <a:ext cx="16459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1A2E"/>
                </a:solidFill>
              </a:rPr>
              <a:t>Crude Oil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3602736"/>
            <a:ext cx="11887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7830"/>
                </a:solidFill>
              </a:rPr>
              <a:t>σ = 8.9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83280" y="3602736"/>
            <a:ext cx="1371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7B70"/>
                </a:solidFill>
              </a:rPr>
              <a:t>High substitutability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12080" y="2084832"/>
            <a:ext cx="3657600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212080" y="2084832"/>
            <a:ext cx="3657600" cy="4572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49240" y="22311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2B2B"/>
                </a:solidFill>
              </a:rPr>
              <a:t>·  Armington Elasticity measures how substitutable a commodity is across trade origins — key to quantifying how much a tariff shock transmits into financing stress.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49240" y="277977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2B2B"/>
                </a:solidFill>
              </a:rPr>
              <a:t>·  Combined with corridor sovereign and working capital stress parameters, these inputs auto-derive the loan spread and swap fixed rates.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49240" y="332841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2B2B"/>
                </a:solidFill>
              </a:rPr>
              <a:t>·  Tariff rates become marketObjectCode references in ACTUS contract fields — via existing market object mechanisms, no core modification required.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49240" y="387705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D2B2B"/>
                </a:solidFill>
              </a:rPr>
              <a:t>·  Contract type for the swap leg: SWPPV within the ACTUS taxonomy.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7B70"/>
                </a:solidFill>
              </a:rPr>
              <a:t>The transmission of tariffs into lending costs is not uniform — shaped by sector elasticity, corridor stress, and contract timing.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THE WHAT-IF ENGINE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Slide 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1A2E"/>
                </a:solidFill>
              </a:rPr>
              <a:t>Three Scenarios: Navigating Tariff Shock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solidFill>
            <a:srgbClr val="F5EDEA"/>
          </a:solidFill>
          <a:ln w="12700">
            <a:solidFill>
              <a:srgbClr val="E0D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1A2E"/>
                </a:solidFill>
              </a:rPr>
              <a:t>Base Case: $1M trade finance loan  ·  2-year tenor  ·  Tariff rate increase from 50% → 60%  ·  Winner Analysis (B) computes optimal strategy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8229600" cy="45720"/>
          </a:xfrm>
          <a:prstGeom prst="rect">
            <a:avLst/>
          </a:prstGeom>
          <a:solidFill>
            <a:srgbClr val="E0CEC8"/>
          </a:solidFill>
          <a:ln w="12700">
            <a:solidFill>
              <a:srgbClr val="E0C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182880" cy="182880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-9144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1A2E"/>
                </a:solidFill>
              </a:rPr>
              <a:t>Loan Start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-91440" y="2679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70"/>
                </a:solidFill>
              </a:rPr>
              <a:t>Month 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83280" y="2167128"/>
            <a:ext cx="182880" cy="182880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1A2E"/>
                </a:solidFill>
              </a:rPr>
              <a:t>Tariff Shock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679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70"/>
                </a:solidFill>
              </a:rPr>
              <a:t>50% → 60%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38160" y="2167128"/>
            <a:ext cx="182880" cy="182880"/>
          </a:xfrm>
          <a:prstGeom prst="ellipse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1A2E"/>
                </a:solidFill>
              </a:rPr>
              <a:t>Maturity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26791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70"/>
                </a:solidFill>
              </a:rPr>
              <a:t>Month 24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26060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6060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A  —  No Hedge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118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Status quo — borrower absorbs full tariff-driven spread widening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480560"/>
            <a:ext cx="1371600" cy="246888"/>
          </a:xfrm>
          <a:prstGeom prst="rect">
            <a:avLst/>
          </a:prstGeom>
          <a:solidFill>
            <a:srgbClr val="F5ED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48056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Baseline Risk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6060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063240"/>
            <a:ext cx="2606040" cy="45720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0" y="3063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B  —  Swap Now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Offset: 0 months · Fixed rate 5.0% — full protection from day 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4480560"/>
            <a:ext cx="1371600" cy="246888"/>
          </a:xfrm>
          <a:prstGeom prst="rect">
            <a:avLst/>
          </a:prstGeom>
          <a:solidFill>
            <a:srgbClr val="F5EDE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37560" y="448056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3A3A"/>
                </a:solidFill>
              </a:rPr>
              <a:t>Early Hedge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0" y="3063240"/>
            <a:ext cx="260604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3063240"/>
            <a:ext cx="2606040" cy="457200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35040" y="30632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C  —  Swap Later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6118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2B2B"/>
                </a:solidFill>
              </a:rPr>
              <a:t>Offset: 3 months · Fixed rate 6.0% — delayed entry + higher premium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4480560"/>
            <a:ext cx="1371600" cy="246888"/>
          </a:xfrm>
          <a:prstGeom prst="rect">
            <a:avLst/>
          </a:prstGeom>
          <a:solidFill>
            <a:srgbClr val="F5EDEA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72200" y="448056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C1A2E"/>
                </a:solidFill>
              </a:rPr>
              <a:t>Late Hedge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39486" y="502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SCENARIO A  —  NO HEDGE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C0B0"/>
                </a:solidFill>
              </a:rPr>
              <a:t>Slide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E"/>
                </a:solidFill>
              </a:rPr>
              <a:t>The Cost of Doing Nothing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D2B2B"/>
                </a:solidFill>
              </a:rPr>
              <a:t>Without protection, the borrower's effective financing cost rises directly with tariff-driven spread widening.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Sovereign Stress Basis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121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50 bps  →  70 bps (peak)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Working Capital Stress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30 bps  →  50 bps (peak)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5029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5478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Tariff Exposure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547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Unhedged  →  $1M Notional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370832"/>
            <a:ext cx="5029200" cy="502920"/>
          </a:xfrm>
          <a:prstGeom prst="rect">
            <a:avLst/>
          </a:prstGeom>
          <a:solidFill>
            <a:srgbClr val="FFF0ED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370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C0392B"/>
                </a:solidFill>
              </a:rPr>
              <a:t>This is the status quo — the problem the entire framework is designed to solve.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1417320"/>
            <a:ext cx="3063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15087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8C7B70"/>
                </a:solidFill>
              </a:rPr>
              <a:t>CUMULATIVE COST TRAJECTORY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897880" y="4206240"/>
            <a:ext cx="347472" cy="274320"/>
          </a:xfrm>
          <a:prstGeom prst="rect">
            <a:avLst/>
          </a:prstGeom>
          <a:solidFill>
            <a:srgbClr val="E8CEC5"/>
          </a:solidFill>
          <a:ln w="12700">
            <a:solidFill>
              <a:srgbClr val="E8C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55080" y="4023360"/>
            <a:ext cx="347472" cy="457200"/>
          </a:xfrm>
          <a:prstGeom prst="rect">
            <a:avLst/>
          </a:prstGeom>
          <a:solidFill>
            <a:srgbClr val="D4A898"/>
          </a:solidFill>
          <a:ln w="12700">
            <a:solidFill>
              <a:srgbClr val="D4A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2280" y="3566160"/>
            <a:ext cx="34747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69480" y="3246120"/>
            <a:ext cx="347472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26680" y="3017520"/>
            <a:ext cx="347472" cy="146304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83880" y="2743200"/>
            <a:ext cx="347472" cy="173736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852160" y="4480560"/>
            <a:ext cx="2880360" cy="18288"/>
          </a:xfrm>
          <a:prstGeom prst="rect">
            <a:avLst/>
          </a:prstGeom>
          <a:solidFill>
            <a:srgbClr val="E0CEC8"/>
          </a:solidFill>
          <a:ln w="12700">
            <a:solidFill>
              <a:srgbClr val="E0CE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60720" y="47548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0392B"/>
                </a:solidFill>
              </a:rPr>
              <a:t>Unhedged Cost Accumulation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SCENARIO B vs C  —  TIMING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Slide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1A2E"/>
                </a:solidFill>
              </a:rPr>
              <a:t>The Cost of Timing: Swap Now vs Swap Later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3A3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931920" cy="475488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SCENARIO B  —  SWAP 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7B70"/>
                </a:solidFill>
              </a:rPr>
              <a:t>Entry Offset</a:t>
            </a:r>
            <a:endParaRPr lang="en-US" sz="1000" b="1" dirty="0"/>
          </a:p>
        </p:txBody>
      </p:sp>
      <p:sp>
        <p:nvSpPr>
          <p:cNvPr id="11" name="Text 9"/>
          <p:cNvSpPr/>
          <p:nvPr/>
        </p:nvSpPr>
        <p:spPr>
          <a:xfrm>
            <a:off x="210312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0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70"/>
                </a:solidFill>
              </a:rPr>
              <a:t>Fixed Swap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5.0%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70"/>
                </a:solidFill>
              </a:rPr>
              <a:t>Protection Start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Day 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70"/>
                </a:solidFill>
              </a:rPr>
              <a:t>Cost Profile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Lower blended cost when tariff shock arrives early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9319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C1A2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931920" cy="47548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4173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SCENARIO C  —  SWAP LATER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70"/>
                </a:solidFill>
              </a:rPr>
              <a:t>Entry Offset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3 months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70"/>
                </a:solidFill>
              </a:rPr>
              <a:t>Fixed Swap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6.0%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70"/>
                </a:solidFill>
              </a:rPr>
              <a:t>Unhedged Window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3 Months Exposed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794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7B70"/>
                </a:solidFill>
              </a:rPr>
              <a:t>Cost Profile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</a:rPr>
              <a:t>Higher rate due to increased risk premium at purchase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00016"/>
            <a:ext cx="8412480" cy="301752"/>
          </a:xfrm>
          <a:prstGeom prst="rect">
            <a:avLst/>
          </a:prstGeom>
          <a:solidFill>
            <a:srgbClr val="FFF8E7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70001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1A2E"/>
                </a:solidFill>
              </a:rPr>
              <a:t>Key Insight: The cost of delay is priced in — the market charges for waiting once tariff stress is visible. ACTUS deterministic semantics enable direct, precise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ACTUS PAM + SWAPS simulations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GTAP-grounded tariff risk factor engine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models for tariff spread, Revenue Elasticity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exposing risk service as NLP tool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Multi-scenario what-if with live ACTUS output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CFO query interface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contract types &amp; model refinement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tariff feed integration (WTO, PIIE)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 across 1,000+ tariff paths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Multi-corridor expansion (Japan, EU, Saudi)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SME-facing production interface</a:t>
            </a:r>
            <a:endParaRPr lang="en-US" sz="11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2A1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ACTUS Risk Service enhancements for Macro risks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8F4A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not solving a theoretical problem. Tariff volatility is today's headline —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DRAPS makes it a hedgeable, standardised, machine-readable risk."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FE8FCE1F-7168-B36E-1393-C0A607A6B511}"/>
              </a:ext>
            </a:extLst>
          </p:cNvPr>
          <p:cNvSpPr/>
          <p:nvPr/>
        </p:nvSpPr>
        <p:spPr>
          <a:xfrm>
            <a:off x="0" y="73297"/>
            <a:ext cx="9144000" cy="548640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&amp; WHAT'S NEXT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ED3F6CDF-5AAC-7B6A-EB43-213911E7393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82F804B0-E3FB-7869-CC65-FEE8C7A350B5}"/>
              </a:ext>
            </a:extLst>
          </p:cNvPr>
          <p:cNvSpPr/>
          <p:nvPr/>
        </p:nvSpPr>
        <p:spPr>
          <a:xfrm>
            <a:off x="457200" y="1010412"/>
            <a:ext cx="3931920" cy="475488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ACCOMPLISHED</a:t>
            </a:r>
            <a:endParaRPr lang="en-US" sz="1600" dirty="0"/>
          </a:p>
          <a:p>
            <a:r>
              <a:rPr lang="en-US" dirty="0"/>
              <a:t>	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86C92EB0-2A46-E009-F720-0F348F3EAA15}"/>
              </a:ext>
            </a:extLst>
          </p:cNvPr>
          <p:cNvSpPr/>
          <p:nvPr/>
        </p:nvSpPr>
        <p:spPr>
          <a:xfrm>
            <a:off x="4806406" y="964692"/>
            <a:ext cx="3931920" cy="475488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NEXT STEPS</a:t>
            </a:r>
            <a:endParaRPr lang="en-US" sz="1600" dirty="0"/>
          </a:p>
          <a:p>
            <a:r>
              <a:rPr lang="en-US" dirty="0"/>
              <a:t>	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1A2E"/>
          </a:solidFill>
          <a:ln w="12700">
            <a:solidFill>
              <a:srgbClr val="5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Gold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7830"/>
          </a:solidFill>
          <a:ln w="12700">
            <a:solidFill>
              <a:srgbClr val="C07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HeaderLabel"/>
          <p:cNvSpPr/>
          <p:nvPr/>
        </p:nvSpPr>
        <p:spPr>
          <a:xfrm>
            <a:off x="45720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APPENDIX  ·  GTAP, TECHNOLOGY &amp; REFERENCES</a:t>
            </a:r>
          </a:p>
        </p:txBody>
      </p:sp>
      <p:sp>
        <p:nvSpPr>
          <p:cNvPr id="5" name="SlideNum"/>
          <p:cNvSpPr/>
          <p:nvPr/>
        </p:nvSpPr>
        <p:spPr>
          <a:xfrm>
            <a:off x="8046720" y="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9880"/>
                </a:solidFill>
              </a:rPr>
              <a:t>Appendix</a:t>
            </a:r>
          </a:p>
        </p:txBody>
      </p:sp>
      <p:sp>
        <p:nvSpPr>
          <p:cNvPr id="10" name="Col1Bg"/>
          <p:cNvSpPr/>
          <p:nvPr/>
        </p:nvSpPr>
        <p:spPr>
          <a:xfrm>
            <a:off x="228600" y="731520"/>
            <a:ext cx="27432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ol1Accent"/>
          <p:cNvSpPr/>
          <p:nvPr/>
        </p:nvSpPr>
        <p:spPr>
          <a:xfrm>
            <a:off x="228600" y="731520"/>
            <a:ext cx="2743200" cy="45720"/>
          </a:xfrm>
          <a:prstGeom prst="rect">
            <a:avLst/>
          </a:prstGeom>
          <a:solidFill>
            <a:srgbClr val="8B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ol1Title"/>
          <p:cNvSpPr/>
          <p:nvPr/>
        </p:nvSpPr>
        <p:spPr>
          <a:xfrm>
            <a:off x="304800" y="79248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  <a:latin typeface="Georgia" pitchFamily="34" charset="0"/>
              </a:rPr>
              <a:t>A · GTAP &amp; ARMINGTON ELASTICITY</a:t>
            </a:r>
          </a:p>
        </p:txBody>
      </p:sp>
      <p:sp>
        <p:nvSpPr>
          <p:cNvPr id="13" name="Col1Sub"/>
          <p:cNvSpPr/>
          <p:nvPr/>
        </p:nvSpPr>
        <p:spPr>
          <a:xfrm>
            <a:off x="304800" y="111252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D2B2B"/>
                </a:solidFill>
                <a:latin typeface="Calibri" pitchFamily="34" charset="0"/>
              </a:rPr>
              <a:t>Armington σ measures commodity substitutability across trade origins</a:t>
            </a:r>
          </a:p>
        </p:txBody>
      </p:sp>
      <p:sp>
        <p:nvSpPr>
          <p:cNvPr id="14" name="TableHdrBg"/>
          <p:cNvSpPr/>
          <p:nvPr/>
        </p:nvSpPr>
        <p:spPr>
          <a:xfrm>
            <a:off x="228600" y="1371600"/>
            <a:ext cx="2743200" cy="274320"/>
          </a:xfrm>
          <a:prstGeom prst="rect">
            <a:avLst/>
          </a:prstGeom>
          <a:solidFill>
            <a:srgbClr val="5C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ableHdrText"/>
          <p:cNvSpPr/>
          <p:nvPr/>
        </p:nvSpPr>
        <p:spPr>
          <a:xfrm>
            <a:off x="2286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9144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</a:rPr>
              <a:t>Sector        σ   Subst.         Impact</a:t>
            </a:r>
          </a:p>
        </p:txBody>
      </p:sp>
      <p:sp>
        <p:nvSpPr>
          <p:cNvPr id="20" name="Row1Bg"/>
          <p:cNvSpPr/>
          <p:nvPr/>
        </p:nvSpPr>
        <p:spPr>
          <a:xfrm>
            <a:off x="228600" y="1645920"/>
            <a:ext cx="2743200" cy="228600"/>
          </a:xfrm>
          <a:prstGeom prst="rect">
            <a:avLst/>
          </a:prstGeom>
          <a:solidFill>
            <a:srgbClr val="F5EDE8"/>
          </a:solidFill>
          <a:ln w="9525">
            <a:solidFill>
              <a:srgbClr val="E0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ow1Text"/>
          <p:cNvSpPr/>
          <p:nvPr/>
        </p:nvSpPr>
        <p:spPr>
          <a:xfrm>
            <a:off x="260350" y="1650000"/>
            <a:ext cx="268045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1A2E"/>
                </a:solidFill>
                <a:latin typeface="Calibri" pitchFamily="34" charset="0"/>
              </a:rPr>
              <a:t>Textiles (tex)</a:t>
            </a:r>
            <a:r>
              <a:rPr lang="en-US" sz="750" b="1" dirty="0">
                <a:solidFill>
                  <a:srgbClr val="C07830"/>
                </a:solidFill>
                <a:latin typeface="Calibri" pitchFamily="34" charset="0"/>
              </a:rPr>
              <a:t>   3.8  </a:t>
            </a:r>
            <a:r>
              <a:rPr lang="en-US" sz="750" dirty="0">
                <a:solidFill>
                  <a:srgbClr val="3D2B2B"/>
                </a:solidFill>
                <a:latin typeface="Calibri" pitchFamily="34" charset="0"/>
              </a:rPr>
              <a:t>High   50% tariff, $8B+</a:t>
            </a:r>
          </a:p>
        </p:txBody>
      </p:sp>
      <p:sp>
        <p:nvSpPr>
          <p:cNvPr id="22" name="Row2Bg"/>
          <p:cNvSpPr/>
          <p:nvPr/>
        </p:nvSpPr>
        <p:spPr>
          <a:xfrm>
            <a:off x="228600" y="1874520"/>
            <a:ext cx="27432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ow2Text"/>
          <p:cNvSpPr/>
          <p:nvPr/>
        </p:nvSpPr>
        <p:spPr>
          <a:xfrm>
            <a:off x="260350" y="1878000"/>
            <a:ext cx="268045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1A2E"/>
                </a:solidFill>
                <a:latin typeface="Calibri" pitchFamily="34" charset="0"/>
              </a:rPr>
              <a:t>Leather (lea)</a:t>
            </a:r>
            <a:r>
              <a:rPr lang="en-US" sz="750" b="1" dirty="0">
                <a:solidFill>
                  <a:srgbClr val="C07830"/>
                </a:solidFill>
                <a:latin typeface="Calibri" pitchFamily="34" charset="0"/>
              </a:rPr>
              <a:t>   4.1  </a:t>
            </a:r>
            <a:r>
              <a:rPr lang="en-US" sz="750" dirty="0">
                <a:solidFill>
                  <a:srgbClr val="3D2B2B"/>
                </a:solidFill>
                <a:latin typeface="Calibri" pitchFamily="34" charset="0"/>
              </a:rPr>
              <a:t>V.High  Most substitutable</a:t>
            </a:r>
          </a:p>
        </p:txBody>
      </p:sp>
      <p:sp>
        <p:nvSpPr>
          <p:cNvPr id="24" name="Row3Bg"/>
          <p:cNvSpPr/>
          <p:nvPr/>
        </p:nvSpPr>
        <p:spPr>
          <a:xfrm>
            <a:off x="228600" y="2103120"/>
            <a:ext cx="2743200" cy="228600"/>
          </a:xfrm>
          <a:prstGeom prst="rect">
            <a:avLst/>
          </a:prstGeom>
          <a:solidFill>
            <a:srgbClr val="F5EDE8"/>
          </a:solidFill>
          <a:ln w="9525">
            <a:solidFill>
              <a:srgbClr val="E0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ow3Text"/>
          <p:cNvSpPr/>
          <p:nvPr/>
        </p:nvSpPr>
        <p:spPr>
          <a:xfrm>
            <a:off x="260350" y="2107000"/>
            <a:ext cx="268045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1A2E"/>
                </a:solidFill>
                <a:latin typeface="Calibri" pitchFamily="34" charset="0"/>
              </a:rPr>
              <a:t>Pharma (crp)</a:t>
            </a:r>
            <a:r>
              <a:rPr lang="en-US" sz="750" b="1" dirty="0">
                <a:solidFill>
                  <a:srgbClr val="C07830"/>
                </a:solidFill>
                <a:latin typeface="Calibri" pitchFamily="34" charset="0"/>
              </a:rPr>
              <a:t>   3.3  </a:t>
            </a:r>
            <a:r>
              <a:rPr lang="en-US" sz="750" dirty="0">
                <a:solidFill>
                  <a:srgbClr val="3D2B2B"/>
                </a:solidFill>
                <a:latin typeface="Calibri" pitchFamily="34" charset="0"/>
              </a:rPr>
              <a:t>Mod.   Partial exemptions</a:t>
            </a:r>
          </a:p>
        </p:txBody>
      </p:sp>
      <p:sp>
        <p:nvSpPr>
          <p:cNvPr id="26" name="Row4Bg"/>
          <p:cNvSpPr/>
          <p:nvPr/>
        </p:nvSpPr>
        <p:spPr>
          <a:xfrm>
            <a:off x="228600" y="2331720"/>
            <a:ext cx="27432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ow4Text"/>
          <p:cNvSpPr/>
          <p:nvPr/>
        </p:nvSpPr>
        <p:spPr>
          <a:xfrm>
            <a:off x="260350" y="2335700"/>
            <a:ext cx="268045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1A2E"/>
                </a:solidFill>
                <a:latin typeface="Calibri" pitchFamily="34" charset="0"/>
              </a:rPr>
              <a:t>Electronics (ele)</a:t>
            </a:r>
            <a:r>
              <a:rPr lang="en-US" sz="750" b="1" dirty="0">
                <a:solidFill>
                  <a:srgbClr val="C07830"/>
                </a:solidFill>
                <a:latin typeface="Calibri" pitchFamily="34" charset="0"/>
              </a:rPr>
              <a:t>   8.1  </a:t>
            </a:r>
            <a:r>
              <a:rPr lang="en-US" sz="750" dirty="0">
                <a:solidFill>
                  <a:srgbClr val="3D2B2B"/>
                </a:solidFill>
                <a:latin typeface="Calibri" pitchFamily="34" charset="0"/>
              </a:rPr>
              <a:t>Ext.   60% tariff China</a:t>
            </a:r>
          </a:p>
        </p:txBody>
      </p:sp>
      <p:sp>
        <p:nvSpPr>
          <p:cNvPr id="28" name="Row5Bg"/>
          <p:cNvSpPr/>
          <p:nvPr/>
        </p:nvSpPr>
        <p:spPr>
          <a:xfrm>
            <a:off x="228600" y="2560320"/>
            <a:ext cx="2743200" cy="228600"/>
          </a:xfrm>
          <a:prstGeom prst="rect">
            <a:avLst/>
          </a:prstGeom>
          <a:solidFill>
            <a:srgbClr val="F5EDE8"/>
          </a:solidFill>
          <a:ln w="9525">
            <a:solidFill>
              <a:srgbClr val="E0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ow5Text"/>
          <p:cNvSpPr/>
          <p:nvPr/>
        </p:nvSpPr>
        <p:spPr>
          <a:xfrm>
            <a:off x="260350" y="2564300"/>
            <a:ext cx="2680450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1A2E"/>
                </a:solidFill>
                <a:latin typeface="Calibri" pitchFamily="34" charset="0"/>
              </a:rPr>
              <a:t>Engineering (fmp)</a:t>
            </a:r>
            <a:r>
              <a:rPr lang="en-US" sz="750" b="1" dirty="0">
                <a:solidFill>
                  <a:srgbClr val="C07830"/>
                </a:solidFill>
                <a:latin typeface="Calibri" pitchFamily="34" charset="0"/>
              </a:rPr>
              <a:t>   3.8  </a:t>
            </a:r>
            <a:r>
              <a:rPr lang="en-US" sz="750" dirty="0">
                <a:solidFill>
                  <a:srgbClr val="3D2B2B"/>
                </a:solidFill>
                <a:latin typeface="Calibri" pitchFamily="34" charset="0"/>
              </a:rPr>
              <a:t>High   Auto components</a:t>
            </a:r>
          </a:p>
        </p:txBody>
      </p:sp>
      <p:sp>
        <p:nvSpPr>
          <p:cNvPr id="30" name="GtapSource"/>
          <p:cNvSpPr/>
          <p:nvPr/>
        </p:nvSpPr>
        <p:spPr>
          <a:xfrm>
            <a:off x="304800" y="283464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i="1" dirty="0">
                <a:solidFill>
                  <a:srgbClr val="7B8499"/>
                </a:solidFill>
                <a:latin typeface="Calibri" pitchFamily="34" charset="0"/>
              </a:rPr>
              <a:t>Source: GTAP 11 (Aguiar et al. 2022); Narayanan &amp; Sen 2025; TASTE tool</a:t>
            </a:r>
          </a:p>
        </p:txBody>
      </p:sp>
      <p:sp>
        <p:nvSpPr>
          <p:cNvPr id="40" name="Col2Bg"/>
          <p:cNvSpPr/>
          <p:nvPr/>
        </p:nvSpPr>
        <p:spPr>
          <a:xfrm>
            <a:off x="3132000" y="731520"/>
            <a:ext cx="27432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Col2Accent"/>
          <p:cNvSpPr/>
          <p:nvPr/>
        </p:nvSpPr>
        <p:spPr>
          <a:xfrm>
            <a:off x="3132000" y="731520"/>
            <a:ext cx="2743200" cy="45720"/>
          </a:xfrm>
          <a:prstGeom prst="rect">
            <a:avLst/>
          </a:prstGeom>
          <a:solidFill>
            <a:srgbClr val="8B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Col2Title"/>
          <p:cNvSpPr/>
          <p:nvPr/>
        </p:nvSpPr>
        <p:spPr>
          <a:xfrm>
            <a:off x="3208200" y="792480"/>
            <a:ext cx="259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  <a:latin typeface="Georgia" pitchFamily="34" charset="0"/>
              </a:rPr>
              <a:t>B · TECHNOLOGY ARCHITECTURE</a:t>
            </a:r>
          </a:p>
        </p:txBody>
      </p:sp>
      <p:sp>
        <p:nvSpPr>
          <p:cNvPr id="43" name="McpBg"/>
          <p:cNvSpPr/>
          <p:nvPr/>
        </p:nvSpPr>
        <p:spPr>
          <a:xfrm>
            <a:off x="3208200" y="1188720"/>
            <a:ext cx="2590800" cy="457200"/>
          </a:xfrm>
          <a:prstGeom prst="rect">
            <a:avLst/>
          </a:prstGeom>
          <a:solidFill>
            <a:srgbClr val="5C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McpHdr"/>
          <p:cNvSpPr/>
          <p:nvPr/>
        </p:nvSpPr>
        <p:spPr>
          <a:xfrm>
            <a:off x="3208200" y="1188720"/>
            <a:ext cx="2590800" cy="228600"/>
          </a:xfrm>
          <a:prstGeom prst="rect">
            <a:avLst/>
          </a:prstGeom>
          <a:solidFill>
            <a:srgbClr val="8B3A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MCP SERVER</a:t>
            </a:r>
          </a:p>
        </p:txBody>
      </p:sp>
      <p:sp>
        <p:nvSpPr>
          <p:cNvPr id="45" name="McpBody"/>
          <p:cNvSpPr/>
          <p:nvPr/>
        </p:nvSpPr>
        <p:spPr>
          <a:xfrm>
            <a:off x="3208200" y="141732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9880"/>
                </a:solidFill>
                <a:latin typeface="Calibri" pitchFamily="34" charset="0"/>
              </a:rPr>
              <a:t>Exposes behavioral risk models as tool endpoints for LLM agents</a:t>
            </a:r>
          </a:p>
        </p:txBody>
      </p:sp>
      <p:sp>
        <p:nvSpPr>
          <p:cNvPr id="46" name="Arrow1"/>
          <p:cNvSpPr/>
          <p:nvPr/>
        </p:nvSpPr>
        <p:spPr>
          <a:xfrm>
            <a:off x="3360600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7830"/>
                </a:solidFill>
                <a:latin typeface="Calibri" pitchFamily="34" charset="0"/>
              </a:rPr>
              <a:t>↓</a:t>
            </a:r>
          </a:p>
        </p:txBody>
      </p:sp>
      <p:sp>
        <p:nvSpPr>
          <p:cNvPr id="47" name="ExtBg"/>
          <p:cNvSpPr/>
          <p:nvPr/>
        </p:nvSpPr>
        <p:spPr>
          <a:xfrm>
            <a:off x="3208200" y="1874520"/>
            <a:ext cx="2590800" cy="457200"/>
          </a:xfrm>
          <a:prstGeom prst="rect">
            <a:avLst/>
          </a:prstGeom>
          <a:solidFill>
            <a:srgbClr val="5C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ExtHdr"/>
          <p:cNvSpPr/>
          <p:nvPr/>
        </p:nvSpPr>
        <p:spPr>
          <a:xfrm>
            <a:off x="3208200" y="1874520"/>
            <a:ext cx="2590800" cy="228600"/>
          </a:xfrm>
          <a:prstGeom prst="rect">
            <a:avLst/>
          </a:prstGeom>
          <a:solidFill>
            <a:srgbClr val="8B3A3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EXT. RISK SERVICE</a:t>
            </a:r>
          </a:p>
        </p:txBody>
      </p:sp>
      <p:sp>
        <p:nvSpPr>
          <p:cNvPr id="49" name="ExtBody"/>
          <p:cNvSpPr/>
          <p:nvPr/>
        </p:nvSpPr>
        <p:spPr>
          <a:xfrm>
            <a:off x="3208200" y="210312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9880"/>
                </a:solidFill>
                <a:latin typeface="Calibri" pitchFamily="34" charset="0"/>
              </a:rPr>
              <a:t>TariffSpreadModel, Markov, GTAP elasticity calibration</a:t>
            </a:r>
          </a:p>
        </p:txBody>
      </p:sp>
      <p:sp>
        <p:nvSpPr>
          <p:cNvPr id="50" name="Arrow2"/>
          <p:cNvSpPr/>
          <p:nvPr/>
        </p:nvSpPr>
        <p:spPr>
          <a:xfrm>
            <a:off x="3360600" y="2377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7830"/>
                </a:solidFill>
                <a:latin typeface="Calibri" pitchFamily="34" charset="0"/>
              </a:rPr>
              <a:t>↓</a:t>
            </a:r>
          </a:p>
        </p:txBody>
      </p:sp>
      <p:sp>
        <p:nvSpPr>
          <p:cNvPr id="51" name="ActusBg"/>
          <p:cNvSpPr/>
          <p:nvPr/>
        </p:nvSpPr>
        <p:spPr>
          <a:xfrm>
            <a:off x="3208200" y="2560320"/>
            <a:ext cx="2590800" cy="457200"/>
          </a:xfrm>
          <a:prstGeom prst="rect">
            <a:avLst/>
          </a:prstGeom>
          <a:solidFill>
            <a:srgbClr val="5C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ActusHdr"/>
          <p:cNvSpPr/>
          <p:nvPr/>
        </p:nvSpPr>
        <p:spPr>
          <a:xfrm>
            <a:off x="3208200" y="2560320"/>
            <a:ext cx="2590800" cy="228600"/>
          </a:xfrm>
          <a:prstGeom prst="rect">
            <a:avLst/>
          </a:prstGeom>
          <a:solidFill>
            <a:srgbClr val="C0783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ACTUS ENGINE</a:t>
            </a:r>
          </a:p>
        </p:txBody>
      </p:sp>
      <p:sp>
        <p:nvSpPr>
          <p:cNvPr id="53" name="ActusBody"/>
          <p:cNvSpPr/>
          <p:nvPr/>
        </p:nvSpPr>
        <p:spPr>
          <a:xfrm>
            <a:off x="3208200" y="2788920"/>
            <a:ext cx="259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89880"/>
                </a:solidFill>
                <a:latin typeface="Calibri" pitchFamily="34" charset="0"/>
              </a:rPr>
              <a:t>PAM, SWPPV, ANN contracts · Deterministic cash flow events</a:t>
            </a:r>
          </a:p>
        </p:txBody>
      </p:sp>
      <p:sp>
        <p:nvSpPr>
          <p:cNvPr id="54" name="TechStackLabel"/>
          <p:cNvSpPr/>
          <p:nvPr/>
        </p:nvSpPr>
        <p:spPr>
          <a:xfrm>
            <a:off x="3208200" y="3094920"/>
            <a:ext cx="259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300" spc="200" dirty="0">
                <a:solidFill>
                  <a:srgbClr val="C07830"/>
                </a:solidFill>
                <a:latin typeface="Calibri" pitchFamily="34" charset="0"/>
              </a:rPr>
              <a:t>TECHNOLOGY STACK</a:t>
            </a:r>
          </a:p>
        </p:txBody>
      </p:sp>
      <p:sp>
        <p:nvSpPr>
          <p:cNvPr id="55" name="TechStackBg"/>
          <p:cNvSpPr/>
          <p:nvPr/>
        </p:nvSpPr>
        <p:spPr>
          <a:xfrm>
            <a:off x="3208200" y="3277800"/>
            <a:ext cx="2590800" cy="1280000"/>
          </a:xfrm>
          <a:prstGeom prst="rect">
            <a:avLst/>
          </a:prstGeom>
          <a:solidFill>
            <a:srgbClr val="F5EDE8"/>
          </a:solidFill>
          <a:ln w="9525">
            <a:solidFill>
              <a:srgbClr val="8B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TechStackText"/>
          <p:cNvSpPr/>
          <p:nvPr/>
        </p:nvSpPr>
        <p:spPr>
          <a:xfrm>
            <a:off x="3253800" y="3317400"/>
            <a:ext cx="2499600" cy="1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5C1A2E"/>
                </a:solidFill>
                <a:latin typeface="Calibri" pitchFamily="34" charset="0"/>
              </a:rPr>
              <a:t>Java: ACTUS Risk Service Extension · BehaviorRiskModelProvider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5C1A2E"/>
                </a:solidFill>
                <a:latin typeface="Calibri" pitchFamily="34" charset="0"/>
              </a:rPr>
              <a:t>Python: Monte Carlo, Vasicek rate model, GTAP calibration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5C1A2E"/>
                </a:solidFill>
                <a:latin typeface="Calibri" pitchFamily="34" charset="0"/>
              </a:rPr>
              <a:t>MCP Server · NLP query engine for contract exploration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650" dirty="0">
                <a:solidFill>
                  <a:srgbClr val="3D2B2B"/>
                </a:solidFill>
                <a:latin typeface="Calibri" pitchFamily="34" charset="0"/>
              </a:rPr>
              <a:t>Data: WTO TTD · PIIE Tariff Tracker · FRED SOFR · GTAP 11</a:t>
            </a:r>
          </a:p>
        </p:txBody>
      </p:sp>
      <p:sp>
        <p:nvSpPr>
          <p:cNvPr id="60" name="Col3Bg"/>
          <p:cNvSpPr/>
          <p:nvPr/>
        </p:nvSpPr>
        <p:spPr>
          <a:xfrm>
            <a:off x="6035400" y="731520"/>
            <a:ext cx="28800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Col3Accent"/>
          <p:cNvSpPr/>
          <p:nvPr/>
        </p:nvSpPr>
        <p:spPr>
          <a:xfrm>
            <a:off x="6035400" y="731520"/>
            <a:ext cx="2880000" cy="45720"/>
          </a:xfrm>
          <a:prstGeom prst="rect">
            <a:avLst/>
          </a:prstGeom>
          <a:solidFill>
            <a:srgbClr val="8B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Col3Title"/>
          <p:cNvSpPr/>
          <p:nvPr/>
        </p:nvSpPr>
        <p:spPr>
          <a:xfrm>
            <a:off x="6111600" y="792480"/>
            <a:ext cx="272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1A2E"/>
                </a:solidFill>
                <a:latin typeface="Georgia" pitchFamily="34" charset="0"/>
              </a:rPr>
              <a:t>C· REFERENCES &amp; SOURCES</a:t>
            </a:r>
          </a:p>
        </p:txBody>
      </p:sp>
      <p:sp>
        <p:nvSpPr>
          <p:cNvPr id="63" name="RefList"/>
          <p:cNvSpPr/>
          <p:nvPr/>
        </p:nvSpPr>
        <p:spPr>
          <a:xfrm>
            <a:off x="6111600" y="1188720"/>
            <a:ext cx="2727600" cy="38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35000"/>
              </a:lnSpc>
              <a:spcBef>
                <a:spcPts val="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ACTUS FRF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actusfrf.org (Taxonomy, Dictionary, TechSpec)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GTAP 11 Data Base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Aguiar et al. 2022, J. Global Econ. Analysis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GTAP TASTE Tool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gtap.agecon.purdue.edu · HS6 bilateral tariff data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Narayanan &amp; Sen 2025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Global Impact of Trump 2.0 Tariffs, EPW Vol 60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PIIE Tariff Tracker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piie.com/research/trade · Markov calibration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KPMG India Sep 2025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US Tariff Shifts: Impact on India · Sector spreads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WTO Tariff &amp; Trade Data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ttd.wto.org · Bilateral applied tariff rates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Federal Reserve SOFR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newyorkfed.org/markets/reference-rates/sofr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RBI Reference Rates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rbi.org.in · USD/INR spot, Trade Relief 2025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World Bank SME Finance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$5.7T gap · worldbank.org/en/topic/smefinance</a:t>
            </a:r>
          </a:p>
          <a:p>
            <a:pPr marL="182880" indent="-182880">
              <a:lnSpc>
                <a:spcPct val="135000"/>
              </a:lnSpc>
              <a:spcBef>
                <a:spcPts val="100"/>
              </a:spcBef>
              <a:buChar char="■"/>
            </a:pPr>
            <a:r>
              <a:rPr lang="en-US" sz="700" b="1" dirty="0">
                <a:solidFill>
                  <a:srgbClr val="5C1A2E"/>
                </a:solidFill>
                <a:latin typeface="Calibri" pitchFamily="34" charset="0"/>
              </a:rPr>
              <a:t>ECGC India Annual Reports</a:t>
            </a:r>
            <a:r>
              <a:rPr lang="en-US" sz="700" dirty="0">
                <a:solidFill>
                  <a:srgbClr val="3D2B2B"/>
                </a:solidFill>
                <a:latin typeface="Calibri" pitchFamily="34" charset="0"/>
              </a:rPr>
              <a:t> — ecgc.in · Export credit behavioral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1614</Words>
  <Application>Microsoft Office PowerPoint</Application>
  <PresentationFormat>On-screen Show (16:9)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ACTUS-DRAPS</dc:title>
  <dc:subject>PptxGenJS Presentation</dc:subject>
  <dc:creator>PptxGenJS</dc:creator>
  <cp:lastModifiedBy>Blessy Christina</cp:lastModifiedBy>
  <cp:revision>15</cp:revision>
  <dcterms:created xsi:type="dcterms:W3CDTF">2026-03-15T15:06:17Z</dcterms:created>
  <dcterms:modified xsi:type="dcterms:W3CDTF">2026-03-16T10:55:18Z</dcterms:modified>
</cp:coreProperties>
</file>